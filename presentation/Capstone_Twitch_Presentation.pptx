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312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8181B"/>
                </a:solidFill>
                <a:latin typeface="Arial"/>
              </a:defRPr>
            </a:pPr>
            <a:r>
              <a:rPr lang="en-US" sz="1400" b="0" i="0" u="none" strike="noStrike">
                <a:solidFill>
                  <a:srgbClr val="18181B"/>
                </a:solidFill>
                <a:latin typeface="Arial"/>
              </a:rPr>
              <a:t>Model R² on held-out test set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 (test set)</c:v>
                </c:pt>
              </c:strCache>
            </c:strRef>
          </c:tx>
          <c:spPr>
            <a:solidFill>
              <a:srgbClr val="9146FF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8181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Linear
Regression</c:v>
                </c:pt>
                <c:pt idx="1">
                  <c:v>Random
Forest</c:v>
                </c:pt>
                <c:pt idx="2">
                  <c:v>Gradient
Boosting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0.17100000000000001</c:v>
                </c:pt>
                <c:pt idx="1">
                  <c:v>0.24399999999999999</c:v>
                </c:pt>
                <c:pt idx="2">
                  <c:v>0.33700000000000002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245-4EFD-9413-FEB56854B74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8181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4"/>
        </c:scaling>
        <c:delete val="0"/>
        <c:axPos val="l"/>
        <c:majorGridlines>
          <c:spPr>
            <a:ln w="12700" cap="flat">
              <a:solidFill>
                <a:srgbClr val="E4E4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3535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822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9146FF">
              <a:alpha val="2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771650" y="4114800"/>
            <a:ext cx="4572000" cy="4572000"/>
          </a:xfrm>
          <a:prstGeom prst="ellipse">
            <a:avLst/>
          </a:prstGeom>
          <a:solidFill>
            <a:srgbClr val="00F5A0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31520" y="1965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F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DATA110 CAPSTONE  ·</a:t>
            </a:r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Engagement Efficiency Segmentation</a:t>
            </a:r>
            <a:endParaRPr lang="en-US" sz="40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Growth Prediction for Twitch Channels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42519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9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raw follower counts: what engagement behavior actually predicts channel growth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31470" y="59436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By: Viven Chavan</a:t>
            </a:r>
            <a:b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Professor: </a:t>
            </a:r>
            <a:r>
              <a:rPr lang="en-IN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Durga Ma’am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914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8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metrics conflate size with engagement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577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channel with 10M followers who watch a few minutes a month isn't the same as a channel with 100K followers watching for hours every week. Raw follower and watch-time figures don't distinguish between them.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5577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53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public analyses of this exact dataset predict one raw metric from another (e.g. Followers from Watch Time) — which mostly re-learns that bigger channels have bigger numbers.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583680" y="1371600"/>
            <a:ext cx="5029200" cy="4206240"/>
          </a:xfrm>
          <a:prstGeom prst="roundRect">
            <a:avLst>
              <a:gd name="adj" fmla="val 2609"/>
            </a:avLst>
          </a:prstGeom>
          <a:solidFill>
            <a:srgbClr val="18181B"/>
          </a:solidFill>
          <a:ln/>
          <a:effectLst>
            <a:outerShdw blurRad="152400" dist="508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949440" y="173736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0F5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978 / 22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949440" y="251460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Partnered vs. Non-Partnered channels in this dataset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49440" y="320040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classifier hits 97.8% accuracy just by always guessing “True” — without learning anything.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949440" y="429768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C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kind of surface-level trap raw-metric analysis falls into — and why this project engineers deeper features instead.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3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0F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research questions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822960" cy="822960"/>
          </a:xfrm>
          <a:prstGeom prst="ellipse">
            <a:avLst/>
          </a:prstGeom>
          <a:solidFill>
            <a:srgbClr val="9146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737360" y="160020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channels be segmented by engagement quality — independent of size — using engineered ratio features?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3657600"/>
            <a:ext cx="822960" cy="822960"/>
          </a:xfrm>
          <a:prstGeom prst="ellipse">
            <a:avLst/>
          </a:prstGeom>
          <a:solidFill>
            <a:srgbClr val="9146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40080" y="3657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737360" y="352044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these engagement features predict absolute follower growth, and which behaviors matter most?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56692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C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Answered via the advanced-level primary research project, built on a basic and intermediate baseline (per project structure).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C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914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8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1,000 Twitch channels, 11 fields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914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22402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3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141732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383280" y="15544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914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383280" y="22402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3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fields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41732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217920" y="15544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914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217920" y="22402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3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52560" y="141732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9052560" y="15544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914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485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052560" y="22402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3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channels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108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time  ·  Stream time  ·  Peak / Average viewers  ·  Followers  ·  Followers gained  ·  Views gained  ·  Partnered  ·  Mature  ·  Language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3931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14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data-quality decision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429768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3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Partnered is severely imbalanced (978/22) — rejected as a classification target. Mature (770/230) is well-balanced and used instead.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3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0F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five-stage pipeline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468880" y="2971800"/>
            <a:ext cx="384048" cy="0"/>
          </a:xfrm>
          <a:prstGeom prst="line">
            <a:avLst/>
          </a:prstGeom>
          <a:noFill/>
          <a:ln w="25400">
            <a:solidFill>
              <a:srgbClr val="9146FF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9146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103120" y="21488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9C9C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81728" y="2971800"/>
            <a:ext cx="384048" cy="0"/>
          </a:xfrm>
          <a:prstGeom prst="line">
            <a:avLst/>
          </a:prstGeom>
          <a:noFill/>
          <a:ln w="25400">
            <a:solidFill>
              <a:srgbClr val="9146FF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852928" y="246888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9146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852928" y="246888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15968" y="21488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9C9C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94576" y="2971800"/>
            <a:ext cx="384048" cy="0"/>
          </a:xfrm>
          <a:prstGeom prst="line">
            <a:avLst/>
          </a:prstGeom>
          <a:noFill/>
          <a:ln w="25400">
            <a:solidFill>
              <a:srgbClr val="9146FF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5065776" y="246888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9146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065776" y="246888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28816" y="21488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9C9C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107424" y="2971800"/>
            <a:ext cx="384048" cy="0"/>
          </a:xfrm>
          <a:prstGeom prst="line">
            <a:avLst/>
          </a:prstGeom>
          <a:noFill/>
          <a:ln w="25400">
            <a:solidFill>
              <a:srgbClr val="9146FF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7278624" y="246888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9146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278624" y="246888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741664" y="21488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9C9C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491472" y="246888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00F5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9491472" y="246888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54512" y="21488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9C9C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" y="42062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9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advanced level is the primary research contribution — the other four stages build toward it.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C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914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NOVEL CONTRIBUTION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8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engineered engagement ratios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949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49808" y="1856232"/>
            <a:ext cx="292608" cy="292608"/>
          </a:xfrm>
          <a:prstGeom prst="ellipse">
            <a:avLst/>
          </a:prstGeom>
          <a:solidFill>
            <a:srgbClr val="9146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234440" y="154533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Avg-to-Peak Ratio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9202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3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Viewership consistency vs. one-off spikes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0" y="1417320"/>
            <a:ext cx="53949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419088" y="1856232"/>
            <a:ext cx="292608" cy="292608"/>
          </a:xfrm>
          <a:prstGeom prst="ellipse">
            <a:avLst/>
          </a:prstGeom>
          <a:solidFill>
            <a:srgbClr val="9146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903720" y="154533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Time / Follower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903720" y="19202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3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attention per follower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788920"/>
            <a:ext cx="53949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749808" y="3227832"/>
            <a:ext cx="292608" cy="292608"/>
          </a:xfrm>
          <a:prstGeom prst="ellipse">
            <a:avLst/>
          </a:prstGeom>
          <a:solidFill>
            <a:srgbClr val="9146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234440" y="291693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/ Follower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32918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3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efficiency vs. existing audience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7920" y="2788920"/>
            <a:ext cx="53949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419088" y="3227832"/>
            <a:ext cx="292608" cy="292608"/>
          </a:xfrm>
          <a:prstGeom prst="ellipse">
            <a:avLst/>
          </a:prstGeom>
          <a:solidFill>
            <a:srgbClr val="9146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903720" y="291693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Follower Growth Rate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903720" y="32918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3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normalized by channel size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160520"/>
            <a:ext cx="53949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749808" y="4599432"/>
            <a:ext cx="292608" cy="292608"/>
          </a:xfrm>
          <a:prstGeom prst="ellipse">
            <a:avLst/>
          </a:prstGeom>
          <a:solidFill>
            <a:srgbClr val="9146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1234440" y="428853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Viewers / Stream Hour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34440" y="46634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3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density per hour streamed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17920" y="4160520"/>
            <a:ext cx="53949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419088" y="4599432"/>
            <a:ext cx="292608" cy="292608"/>
          </a:xfrm>
          <a:prstGeom prst="ellipse">
            <a:avLst/>
          </a:prstGeom>
          <a:solidFill>
            <a:srgbClr val="9146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903720" y="428853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Stickiness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03720" y="46634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3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time beyond the expected baseline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3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0F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NOVEL CONTRIBUTION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Engagement Efficiency Score (EES)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9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first — a handful of channels had ratio values 5–40× larger than the rest, which would dominate scaling.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606040" y="269748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F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27272A"/>
          </a:solidFill>
          <a:ln w="19050">
            <a:solidFill>
              <a:srgbClr val="914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1965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raw ratios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846320" y="269748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F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880360" y="237744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27272A"/>
          </a:solidFill>
          <a:ln w="19050">
            <a:solidFill>
              <a:srgbClr val="914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880360" y="2377440"/>
            <a:ext cx="1965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Winsorize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(1st–99th pct.)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086600" y="269748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F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120640" y="237744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27272A"/>
          </a:solidFill>
          <a:ln w="19050">
            <a:solidFill>
              <a:srgbClr val="914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120640" y="2377440"/>
            <a:ext cx="1965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Min-Max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[0,1]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326880" y="269748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F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7360920" y="237744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27272A"/>
          </a:solidFill>
          <a:ln w="19050">
            <a:solidFill>
              <a:srgbClr val="914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360920" y="2377440"/>
            <a:ext cx="1965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Equal-weight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601200" y="237744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00F5A0"/>
          </a:solidFill>
          <a:ln w="12700">
            <a:solidFill>
              <a:srgbClr val="914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9601200" y="2377440"/>
            <a:ext cx="1965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080" y="42062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C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equal weighting? No prior theoretical basis favors one engagement dimension over another — a defensible, documented default.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C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914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8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 &amp; Intermediate levels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2960" y="16459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914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· Exploratory Regression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Time → Average Viewers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242316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914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 = 0.406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22960" y="310896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3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time explains a moderate but incomplete share of viewership variance — motivating richer features later.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41732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492240" y="16459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914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· Classification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2240" y="1965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the Mature flag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492240" y="242316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914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 0.475  ·  F1 0.348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492240" y="310896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3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Modest, and honestly so: raw engagement stats carry limited signal about content-type flags — a genuine finding, not a failure.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3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0F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LEVEL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Segmenting channels by engagement</a:t>
            </a:r>
            <a:endParaRPr lang="en-US" sz="3200" dirty="0"/>
          </a:p>
        </p:txBody>
      </p:sp>
      <p:pic>
        <p:nvPicPr>
          <p:cNvPr id="4" name="Image 0" descr="/home/claude/twitch-capstone/reports/advanced_clust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71600"/>
            <a:ext cx="4937760" cy="4572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43600" y="155448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F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2  selected by silhouette score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943600" y="196596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C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0.386  vs.  0.208–0.299 for k = 3–6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943600" y="256032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2727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6217920" y="27432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F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0 — High-Efficiency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217920" y="3063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 channels  ·  mean EES = 0.338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217920" y="33832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C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Niche, highly retained audiences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943600" y="406908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2727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6217920" y="42519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14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1 — Standard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217920" y="45720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895 channels  ·  mean EES = 0.209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217920" y="48920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C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typical channel profile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C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914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LEVEL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8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Followers Gained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463040"/>
          <a:ext cx="566928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5" name="Image 0" descr="/home/claude/twitch-capstone/reports/advanced_feature_import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463040"/>
            <a:ext cx="5212080" cy="41605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580644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3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wins  ·  MAE 117,977 followers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3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5486400" cy="5486400"/>
          </a:xfrm>
          <a:prstGeom prst="ellipse">
            <a:avLst/>
          </a:prstGeom>
          <a:solidFill>
            <a:srgbClr val="9146FF">
              <a:alpha val="1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1371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0F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FINDING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efficiency–growth paradox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High-Efficiency channels </a:t>
            </a:r>
            <a:r>
              <a:rPr lang="en-US" sz="2200" b="1" dirty="0">
                <a:solidFill>
                  <a:srgbClr val="00F5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NOT</a:t>
            </a: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gain the most absolute followers.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2651760"/>
            <a:ext cx="5029200" cy="2377440"/>
          </a:xfrm>
          <a:prstGeom prst="roundRect">
            <a:avLst>
              <a:gd name="adj" fmla="val 3846"/>
            </a:avLst>
          </a:prstGeom>
          <a:solidFill>
            <a:srgbClr val="2727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40080" y="288036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0F5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~81,000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640080" y="36118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9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followers gained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4023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C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High-Efficiency channels (Cluster 0)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0" y="2651760"/>
            <a:ext cx="5029200" cy="2377440"/>
          </a:xfrm>
          <a:prstGeom prst="roundRect">
            <a:avLst>
              <a:gd name="adj" fmla="val 3846"/>
            </a:avLst>
          </a:prstGeom>
          <a:solidFill>
            <a:srgbClr val="9146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943600" y="288036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~220,000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5943600" y="36118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A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followers gained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0" y="4023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A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channels (Cluster 1)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525780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9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3× more absolute growth for the “less efficient” tier — raw follower growth is still partly a function of channel size, not engagement quality alone.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C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914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8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future work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B54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Cross-sectional snapshot, not longitudinal — limits causal claims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Equal-weighted EES — alternative weightings (e.g. PCA) untested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416052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variables — genre, sponsorships, esports events not captured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217920" y="14630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67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17920" y="187452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data to test causality (e.g. lagged regression)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17920" y="301752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PCA-derived or expert-elicited feature weighting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217920" y="416052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values for instance-level growth explanations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3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2743200"/>
            <a:ext cx="6400800" cy="6400800"/>
          </a:xfrm>
          <a:prstGeom prst="ellipse">
            <a:avLst/>
          </a:prstGeom>
          <a:solidFill>
            <a:srgbClr val="9146FF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31520" y="24688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731520" y="3429000"/>
            <a:ext cx="4428309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4600"/>
              </a:lnSpc>
            </a:pPr>
            <a:r>
              <a:rPr lang="en-US" sz="1800" dirty="0">
                <a:solidFill>
                  <a:srgbClr val="00F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This </a:t>
            </a:r>
            <a:r>
              <a:rPr lang="en-IN" sz="1800" dirty="0">
                <a:solidFill>
                  <a:srgbClr val="00F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Concludes the Presentation.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126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770</Words>
  <Application>Microsoft Office PowerPoint</Application>
  <PresentationFormat>Widescreen</PresentationFormat>
  <Paragraphs>151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Viven Chavan</cp:lastModifiedBy>
  <cp:revision>5</cp:revision>
  <dcterms:created xsi:type="dcterms:W3CDTF">2026-08-08T06:51:03Z</dcterms:created>
  <dcterms:modified xsi:type="dcterms:W3CDTF">2026-08-08T07:15:51Z</dcterms:modified>
</cp:coreProperties>
</file>